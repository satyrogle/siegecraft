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417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Kindred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Siege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Drowned City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army fights itself.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writes down how.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the v4 design. The cube prototype is the rules. This is the room.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43891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82296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Lovecraftian auto battler where the thinking hurts more than the hit.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73152" cy="9144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2860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 not steer bodies.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habits, then watch them keep those habits under pressure.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3429000"/>
            <a:ext cx="73152" cy="9144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4290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Sanity is behaviour.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halfway the AI starts to hesitate, flee, or turn on its own.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73152" cy="9144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5720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Captains remember.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7240" y="49377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to one and it comes back larger, with a grudge and your tactic in its pocket.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06359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794760"/>
            <a:ext cx="4063594" cy="306324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4" name="Text 1"/>
          <p:cNvSpPr/>
          <p:nvPr/>
        </p:nvSpPr>
        <p:spPr>
          <a:xfrm>
            <a:off x="292608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92608" y="42428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behaviour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92608" y="477316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fight on their own. Before the march you give each one two gambits. In the fight you have five directive points, then the tree is in charge.</a:t>
            </a:r>
            <a:endParaRPr lang="en-US" sz="1500" dirty="0"/>
          </a:p>
        </p:txBody>
      </p:sp>
      <p:pic>
        <p:nvPicPr>
          <p:cNvPr id="7" name="Image 1" descr="C:/Users/jacob/.grok/sessions/C%3A%5CUsers%5Cjacob/01a0e2b2-9494-7743-80b4-6976118e7714/images/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63594" y="0"/>
            <a:ext cx="4063594" cy="6858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063594" y="3794760"/>
            <a:ext cx="4063594" cy="306324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9" name="Text 5"/>
          <p:cNvSpPr/>
          <p:nvPr/>
        </p:nvSpPr>
        <p:spPr>
          <a:xfrm>
            <a:off x="4356202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356202" y="42428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356202" y="477316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has sanity. Stress makes the AI skip, fail a gambit, or break. At zero the unit is Lost, and everyone who watched loses 20.</a:t>
            </a:r>
            <a:endParaRPr lang="en-US" sz="1500" dirty="0"/>
          </a:p>
        </p:txBody>
      </p:sp>
      <p:pic>
        <p:nvPicPr>
          <p:cNvPr id="12" name="Image 2" descr="C:/Users/jacob/.grok/sessions/C%3A%5CUsers%5Cjacob/01a0e2b2-9494-7743-80b4-6976118e7714/images/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7187" y="0"/>
            <a:ext cx="4063594" cy="6858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127187" y="3794760"/>
            <a:ext cx="4063594" cy="306324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14" name="Text 9"/>
          <p:cNvSpPr/>
          <p:nvPr/>
        </p:nvSpPr>
        <p:spPr>
          <a:xfrm>
            <a:off x="8419795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419795" y="42428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rivalry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419795" y="477316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leaders are generated, named, and kept. They adapt to what beat them. A few return after death as Undying.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PLAYER IS GOOD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battle is the consequence of preparation.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11880" cy="443484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3611880" cy="9144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8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path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337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337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mutation and the captain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4 to 6 units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4892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892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unit two gambits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611880" cy="443484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691640"/>
            <a:ext cx="3611880" cy="91440"/>
          </a:xfrm>
          <a:prstGeom prst="rect">
            <a:avLst/>
          </a:prstGeom>
          <a:solidFill>
            <a:srgbClr val="9AAE72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80" kern="0" dirty="0">
                <a:solidFill>
                  <a:srgbClr val="9A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3712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tree 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53712" y="3337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337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pause, or one tick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53712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from 5 directive points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53712" y="4892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4892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Intervene, then let go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1691640"/>
            <a:ext cx="3611880" cy="443484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0" y="1691640"/>
            <a:ext cx="3611880" cy="91440"/>
          </a:xfrm>
          <a:prstGeom prst="rect">
            <a:avLst/>
          </a:prstGeom>
          <a:solidFill>
            <a:srgbClr val="7A5A86"/>
          </a:solidFill>
          <a:ln/>
        </p:spPr>
      </p:sp>
      <p:sp>
        <p:nvSpPr>
          <p:cNvPr id="28" name="Text 26"/>
          <p:cNvSpPr/>
          <p:nvPr/>
        </p:nvSpPr>
        <p:spPr>
          <a:xfrm>
            <a:off x="839419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80" kern="0" dirty="0">
                <a:solidFill>
                  <a:srgbClr val="7A5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94192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Mercy, or a real death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94192" y="3337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0" y="3337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rival writes the result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94192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sticks to who you sent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892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61120" y="4892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cliff to the hamlet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0E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EXPEDITION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beats. Then you are home, or you are lighter.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1847088" cy="324612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7" name="Text 4"/>
          <p:cNvSpPr/>
          <p:nvPr/>
        </p:nvSpPr>
        <p:spPr>
          <a:xfrm>
            <a:off x="493776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3776" y="21945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Hamlet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3776" y="2971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Heal, recruit, read the board.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22576" y="1554480"/>
            <a:ext cx="1847088" cy="324612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11" name="Text 8"/>
          <p:cNvSpPr/>
          <p:nvPr/>
        </p:nvSpPr>
        <p:spPr>
          <a:xfrm>
            <a:off x="2450592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450592" y="21945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Lighthouse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450592" y="2971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paths. Risk is printed.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79392" y="1554480"/>
            <a:ext cx="1847088" cy="324612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15" name="Text 12"/>
          <p:cNvSpPr/>
          <p:nvPr/>
        </p:nvSpPr>
        <p:spPr>
          <a:xfrm>
            <a:off x="4407408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407408" y="21945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07408" y="2971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Roster, gambits, then commit.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36208" y="1554480"/>
            <a:ext cx="1847088" cy="324612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19" name="Text 16"/>
          <p:cNvSpPr/>
          <p:nvPr/>
        </p:nvSpPr>
        <p:spPr>
          <a:xfrm>
            <a:off x="6364224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64224" y="21945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Battle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364224" y="2971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fight. You spend points.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193024" y="1554480"/>
            <a:ext cx="1847088" cy="324612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23" name="Text 20"/>
          <p:cNvSpPr/>
          <p:nvPr/>
        </p:nvSpPr>
        <p:spPr>
          <a:xfrm>
            <a:off x="8321040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321040" y="21945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Mercy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321040" y="2971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life, or a name you lose.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149840" y="1554480"/>
            <a:ext cx="1847088" cy="324612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27" name="Text 24"/>
          <p:cNvSpPr/>
          <p:nvPr/>
        </p:nvSpPr>
        <p:spPr>
          <a:xfrm>
            <a:off x="10277856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277856" y="21945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0277856" y="2971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Scars, loot, fatigue, memory.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50749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also names the job. Annihilation. Survival. Extraction. Rival hunt. Escort. Sanity siege.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7200" y="55778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 20 expeditions. Four districts, then the Abyss, then one arch rival.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C100E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280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hamlet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02920" y="2468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is home.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past the cliff is cold.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3840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city builder. Six buildings, three upgrades each, paid for with what you carry out of the water.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DOORS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door does one job. Upgrades make that job sharper.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703320" cy="228600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34440"/>
            <a:ext cx="91440" cy="22860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35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Barracks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Recruit. Higher tiers open new classes and a larger roster.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234440"/>
            <a:ext cx="3703320" cy="228600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234440"/>
            <a:ext cx="91440" cy="22860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435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Sanatorium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sanity. Level 3 can treat a phobia, at the cost of a full rest.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703320" cy="228600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1234440"/>
            <a:ext cx="91440" cy="22860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1435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76488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 Table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76488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rivalry board. Later it shows a weakness, a spawn, a mutation.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3703320" cy="228600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3703320"/>
            <a:ext cx="91440" cy="22860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4206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" y="4754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gambit list. Level 3 opens a third slot on a unit.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703320" cy="228600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703320"/>
            <a:ext cx="91440" cy="22860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0288" y="4206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Lighthouse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90288" y="4754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path. Later it reveals the mutation and a hidden road.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83880" y="3703320"/>
            <a:ext cx="3703320" cy="228600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30" name="Shape 28"/>
          <p:cNvSpPr/>
          <p:nvPr/>
        </p:nvSpPr>
        <p:spPr>
          <a:xfrm>
            <a:off x="8183880" y="3703320"/>
            <a:ext cx="91440" cy="228600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31" name="Text 29"/>
          <p:cNvSpPr/>
          <p:nvPr/>
        </p:nvSpPr>
        <p:spPr>
          <a:xfrm>
            <a:off x="8476488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76488" y="4206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476488" y="4754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tokens, and the ledger of lives you refused to spend.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a district and the hamlet keeps a piece of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38560" cy="932688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51560"/>
            <a:ext cx="91440" cy="932688"/>
          </a:xfrm>
          <a:prstGeom prst="rect">
            <a:avLst/>
          </a:prstGeom>
          <a:solidFill>
            <a:srgbClr val="2F6F66"/>
          </a:solidFill>
          <a:ln/>
        </p:spPr>
      </p:sp>
      <p:pic>
        <p:nvPicPr>
          <p:cNvPr id="6" name="Image 0" descr="C:/Users/jacob/.grok/sessions/C%3A%5CUsers%5Cjacob/01a0e2b2-9494-7743-80b4-6976118e7714/images/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4712"/>
            <a:ext cx="1554480" cy="786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1795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Harbour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377440" y="1527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0" y="1307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directive point a battle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1480" y="2075688"/>
            <a:ext cx="11338560" cy="932688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2075688"/>
            <a:ext cx="91440" cy="932688"/>
          </a:xfrm>
          <a:prstGeom prst="rect">
            <a:avLst/>
          </a:prstGeom>
          <a:solidFill>
            <a:srgbClr val="9AAE72"/>
          </a:solidFill>
          <a:ln/>
        </p:spPr>
      </p:sp>
      <p:pic>
        <p:nvPicPr>
          <p:cNvPr id="12" name="Image 1" descr="C:/Users/jacob/.grok/sessions/C%3A%5CUsers%5Cjacob/01a0e2b2-9494-7743-80b4-6976118e7714/images/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2148840"/>
            <a:ext cx="1554480" cy="7863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77440" y="2203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Asylum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377440" y="2551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8368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two units at once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11480" y="3099816"/>
            <a:ext cx="11338560" cy="932688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7" name="Shape 13"/>
          <p:cNvSpPr/>
          <p:nvPr/>
        </p:nvSpPr>
        <p:spPr>
          <a:xfrm>
            <a:off x="411480" y="3099816"/>
            <a:ext cx="91440" cy="932688"/>
          </a:xfrm>
          <a:prstGeom prst="rect">
            <a:avLst/>
          </a:prstGeom>
          <a:solidFill>
            <a:srgbClr val="C65A48"/>
          </a:solidFill>
          <a:ln/>
        </p:spPr>
      </p:sp>
      <p:pic>
        <p:nvPicPr>
          <p:cNvPr id="18" name="Image 2" descr="C:/Users/jacob/.grok/sessions/C%3A%5CUsers%5Cjacob/01a0e2b2-9494-7743-80b4-6976118e7714/images/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3172968"/>
            <a:ext cx="1554480" cy="7863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40" y="3227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377440" y="3575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Flesh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83680" y="3355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roster slots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11480" y="4123944"/>
            <a:ext cx="11338560" cy="932688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3" name="Shape 18"/>
          <p:cNvSpPr/>
          <p:nvPr/>
        </p:nvSpPr>
        <p:spPr>
          <a:xfrm>
            <a:off x="411480" y="4123944"/>
            <a:ext cx="91440" cy="932688"/>
          </a:xfrm>
          <a:prstGeom prst="rect">
            <a:avLst/>
          </a:prstGeom>
          <a:solidFill>
            <a:srgbClr val="7A5A86"/>
          </a:solidFill>
          <a:ln/>
        </p:spPr>
      </p:sp>
      <p:pic>
        <p:nvPicPr>
          <p:cNvPr id="24" name="Image 3" descr="C:/Users/jacob/.grok/sessions/C%3A%5CUsers%5Cjacob/01a0e2b2-9494-7743-80b4-6976118e7714/images/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197096"/>
            <a:ext cx="1554480" cy="7863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3774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Cathedral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2377440" y="4599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583680" y="4379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gambits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11480" y="5148072"/>
            <a:ext cx="11338560" cy="932688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9" name="Shape 23"/>
          <p:cNvSpPr/>
          <p:nvPr/>
        </p:nvSpPr>
        <p:spPr>
          <a:xfrm>
            <a:off x="411480" y="5148072"/>
            <a:ext cx="91440" cy="932688"/>
          </a:xfrm>
          <a:prstGeom prst="rect">
            <a:avLst/>
          </a:prstGeom>
          <a:solidFill>
            <a:srgbClr val="C9A35A"/>
          </a:solidFill>
          <a:ln/>
        </p:spPr>
      </p:sp>
      <p:pic>
        <p:nvPicPr>
          <p:cNvPr id="30" name="Image 4" descr="C:/Users/jacob/.grok/sessions/C%3A%5CUsers%5Cjacob/01a0e2b2-9494-7743-80b4-6976118e7714/images/7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0080" y="5221224"/>
            <a:ext cx="1554480" cy="7863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377440" y="5276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Abyss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2377440" y="5623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583680" y="5404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ends here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095390" cy="6858000"/>
          </a:xfrm>
          <a:prstGeom prst="rect">
            <a:avLst/>
          </a:prstGeom>
        </p:spPr>
      </p:pic>
      <p:pic>
        <p:nvPicPr>
          <p:cNvPr id="3" name="Image 1" descr="C:/Users/jacob/.grok/sessions/C%3A%5CUsers%5Cjacob/01a0e2b2-9494-7743-80b4-6976118e7714/images/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305" y="0"/>
            <a:ext cx="609539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434840"/>
            <a:ext cx="6095390" cy="2423160"/>
          </a:xfrm>
          <a:prstGeom prst="rect">
            <a:avLst/>
          </a:prstGeom>
          <a:solidFill>
            <a:srgbClr val="0C100E">
              <a:alpha val="92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6096305" y="4434840"/>
            <a:ext cx="6095390" cy="2423160"/>
          </a:xfrm>
          <a:prstGeom prst="rect">
            <a:avLst/>
          </a:prstGeom>
          <a:solidFill>
            <a:srgbClr val="0C100E">
              <a:alpha val="92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4572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5760" y="4864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Tide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36576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Calls. Bodies are pulled toward the centre of the grid. Water tiles cost sanity and time.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46520" y="4572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ASYLUM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46520" y="4864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644652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Madness Spreads. When one unit gains an affliction, a friend may take one too.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095390" cy="6858000"/>
          </a:xfrm>
          <a:prstGeom prst="rect">
            <a:avLst/>
          </a:prstGeom>
        </p:spPr>
      </p:pic>
      <p:pic>
        <p:nvPicPr>
          <p:cNvPr id="3" name="Image 1" descr="C:/Users/jacob/.grok/sessions/C%3A%5CUsers%5Cjacob/01a0e2b2-9494-7743-80b4-6976118e7714/images/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305" y="0"/>
            <a:ext cx="609539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434840"/>
            <a:ext cx="6095390" cy="2423160"/>
          </a:xfrm>
          <a:prstGeom prst="rect">
            <a:avLst/>
          </a:prstGeom>
          <a:solidFill>
            <a:srgbClr val="0C100E">
              <a:alpha val="92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6096305" y="4434840"/>
            <a:ext cx="6095390" cy="2423160"/>
          </a:xfrm>
          <a:prstGeom prst="rect">
            <a:avLst/>
          </a:prstGeom>
          <a:solidFill>
            <a:srgbClr val="0C100E">
              <a:alpha val="92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4572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5760" y="4864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Flesh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36576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is Shared. Thirty percent of a blow also lands on the nearest friend.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46520" y="4572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46520" y="4864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6446520" y="53492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Rival Knows. Your first gambit fails. The captain already read it.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C100E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417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 ROOM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Abyss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02920" y="26060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 point, one rule covers every fight. You do not walk around it. You kill the captain who is still writing it.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40233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exposure only rises. At the last tier, recruits arrive with less mind, and every rival carries a horror rating.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shapes. The face can wait.</a:t>
            </a:r>
            <a:endParaRPr lang="en-US" sz="2400" dirty="0"/>
          </a:p>
        </p:txBody>
      </p:sp>
      <p:pic>
        <p:nvPicPr>
          <p:cNvPr id="4" name="Image 0" descr="C:/Users/jacob/.grok/sessions/C%3A%5CUsers%5Cjacob/01a0e2b2-9494-7743-80b4-6976118e7714/images/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05840"/>
            <a:ext cx="1133856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2880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Marksman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Occultist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6344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Berserker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8076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9808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91540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91540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33272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32720" y="5413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1148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first. Class has to read at thumbnail size. Teal water. Gold only where a person still lives.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 is what the AI is allowed to do.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7955280" cy="82296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109728" cy="822960"/>
          </a:xfrm>
          <a:prstGeom prst="rect">
            <a:avLst/>
          </a:prstGeom>
          <a:solidFill>
            <a:srgbClr val="9AAE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356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to 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399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80560" y="14356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effect. Pressure can mint a virtue.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7955280" cy="82296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67128"/>
            <a:ext cx="109728" cy="82296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682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 79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36829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one tick in ten, they hesitate.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7955280" cy="82296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099816"/>
            <a:ext cx="109728" cy="822960"/>
          </a:xfrm>
          <a:prstGeom prst="rect">
            <a:avLst/>
          </a:prstGeom>
          <a:solidFill>
            <a:srgbClr val="C484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009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49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Afflicted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33009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Gambits fray. A trait rolls 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7955280" cy="82296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32504"/>
            <a:ext cx="109728" cy="822960"/>
          </a:xfrm>
          <a:prstGeom prst="rect">
            <a:avLst/>
          </a:prstGeom>
          <a:solidFill>
            <a:srgbClr val="C65A4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336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24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4197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80560" y="4233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their ticks fail. They cower.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965192"/>
            <a:ext cx="7955280" cy="82296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965192"/>
            <a:ext cx="109728" cy="822960"/>
          </a:xfrm>
          <a:prstGeom prst="rect">
            <a:avLst/>
          </a:prstGeom>
          <a:solidFill>
            <a:srgbClr val="8E3A4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663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77440" y="51297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80560" y="5166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Removed. Witnesses lose 20.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41080" y="1234440"/>
            <a:ext cx="3108960" cy="457200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30" name="Text 28"/>
          <p:cNvSpPr/>
          <p:nvPr/>
        </p:nvSpPr>
        <p:spPr>
          <a:xfrm>
            <a:off x="8869680" y="1417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ROLLS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0" y="1874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under 50, a trait lands.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69680" y="26060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Veterans, five expeditions or more, find a virtue 30 percent of the time. Rookies, 10.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69680" y="3931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Stalwart. Focused. Courageous. Resolute.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69680" y="47548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Paranoid, Hopeless, Selfish, Irrational.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ones who understand it pay more.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on every horror hit to sanity. An Investigator who studies a rival also loses max sanity for good, down to a floor of 60 percent.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Berserker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1600200"/>
            <a:ext cx="2529840" cy="256032"/>
          </a:xfrm>
          <a:prstGeom prst="rect">
            <a:avLst/>
          </a:prstGeom>
          <a:solidFill>
            <a:srgbClr val="2F6F66"/>
          </a:solidFill>
          <a:ln/>
        </p:spPr>
      </p:sp>
      <p:sp>
        <p:nvSpPr>
          <p:cNvPr id="7" name="Text 5"/>
          <p:cNvSpPr/>
          <p:nvPr/>
        </p:nvSpPr>
        <p:spPr>
          <a:xfrm>
            <a:off x="5227320" y="150876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2185416"/>
            <a:ext cx="3035808" cy="256032"/>
          </a:xfrm>
          <a:prstGeom prst="rect">
            <a:avLst/>
          </a:prstGeom>
          <a:solidFill>
            <a:srgbClr val="2F6F66"/>
          </a:solidFill>
          <a:ln/>
        </p:spPr>
      </p:sp>
      <p:sp>
        <p:nvSpPr>
          <p:cNvPr id="10" name="Text 8"/>
          <p:cNvSpPr/>
          <p:nvPr/>
        </p:nvSpPr>
        <p:spPr>
          <a:xfrm>
            <a:off x="5733288" y="209397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791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06040" y="2770632"/>
            <a:ext cx="3541776" cy="256032"/>
          </a:xfrm>
          <a:prstGeom prst="rect">
            <a:avLst/>
          </a:prstGeom>
          <a:solidFill>
            <a:srgbClr val="2F6F66"/>
          </a:solidFill>
          <a:ln/>
        </p:spPr>
      </p:sp>
      <p:sp>
        <p:nvSpPr>
          <p:cNvPr id="13" name="Text 11"/>
          <p:cNvSpPr/>
          <p:nvPr/>
        </p:nvSpPr>
        <p:spPr>
          <a:xfrm>
            <a:off x="6239256" y="26791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Marksman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06040" y="3355848"/>
            <a:ext cx="4047744" cy="256032"/>
          </a:xfrm>
          <a:prstGeom prst="rect">
            <a:avLst/>
          </a:prstGeom>
          <a:solidFill>
            <a:srgbClr val="2F6F66"/>
          </a:solidFill>
          <a:ln/>
        </p:spPr>
      </p:sp>
      <p:sp>
        <p:nvSpPr>
          <p:cNvPr id="16" name="Text 14"/>
          <p:cNvSpPr/>
          <p:nvPr/>
        </p:nvSpPr>
        <p:spPr>
          <a:xfrm>
            <a:off x="6745224" y="32644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8496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06040" y="3941064"/>
            <a:ext cx="5059680" cy="256032"/>
          </a:xfrm>
          <a:prstGeom prst="rect">
            <a:avLst/>
          </a:prstGeom>
          <a:solidFill>
            <a:srgbClr val="2F6F66"/>
          </a:solidFill>
          <a:ln/>
        </p:spPr>
      </p:sp>
      <p:sp>
        <p:nvSpPr>
          <p:cNvPr id="19" name="Text 17"/>
          <p:cNvSpPr/>
          <p:nvPr/>
        </p:nvSpPr>
        <p:spPr>
          <a:xfrm>
            <a:off x="7757160" y="384962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06040" y="4526280"/>
            <a:ext cx="5565648" cy="256032"/>
          </a:xfrm>
          <a:prstGeom prst="rect">
            <a:avLst/>
          </a:prstGeom>
          <a:solidFill>
            <a:srgbClr val="7A5A86"/>
          </a:solidFill>
          <a:ln/>
        </p:spPr>
      </p:sp>
      <p:sp>
        <p:nvSpPr>
          <p:cNvPr id="22" name="Text 20"/>
          <p:cNvSpPr/>
          <p:nvPr/>
        </p:nvSpPr>
        <p:spPr>
          <a:xfrm>
            <a:off x="8263128" y="443484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50200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Occultist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06040" y="5111496"/>
            <a:ext cx="6577584" cy="256032"/>
          </a:xfrm>
          <a:prstGeom prst="rect">
            <a:avLst/>
          </a:prstGeom>
          <a:solidFill>
            <a:srgbClr val="7A5A86"/>
          </a:solidFill>
          <a:ln/>
        </p:spPr>
      </p:sp>
      <p:sp>
        <p:nvSpPr>
          <p:cNvPr id="25" name="Text 23"/>
          <p:cNvSpPr/>
          <p:nvPr/>
        </p:nvSpPr>
        <p:spPr>
          <a:xfrm>
            <a:off x="9275064" y="502005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56052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606040" y="5696712"/>
            <a:ext cx="7589520" cy="256032"/>
          </a:xfrm>
          <a:prstGeom prst="rect">
            <a:avLst/>
          </a:prstGeom>
          <a:solidFill>
            <a:srgbClr val="7A5A86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7000" y="56052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235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0" y="0"/>
            <a:ext cx="6979615" cy="685800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4" name="Text 1"/>
          <p:cNvSpPr/>
          <p:nvPr/>
        </p:nvSpPr>
        <p:spPr>
          <a:xfrm>
            <a:off x="5623560" y="2926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CAPTAIN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23560" y="56692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Vhaal the Drowned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23560" y="1170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Spawned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69480" y="1170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Grunt. Two to four traits. One weakness.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23560" y="18105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69480" y="1810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lost. Rank, a trait, more HP, more size.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23560" y="2450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Scarred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6948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lived. They learn what hurt them.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23560" y="3090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Defeated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9480" y="30906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Loot. A subordinate may take the grudge.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23560" y="37307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6948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percent. Undying. At least a Captain.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623560" y="452628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rating, every five seconds, the whole field. Lieutenant 2. Captain 4. Overlord 8. Undying adds 2. Then multiply by comprehension.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623560" y="5623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grunt taunting a steady Warden does nothing. An overlord taunting a broken unit can lock them still.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REALITY, FOR ONE FIGHT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on the path before you step onto it.</a:t>
            </a:r>
            <a:endParaRPr lang="en-US" sz="2400" dirty="0"/>
          </a:p>
        </p:txBody>
      </p:sp>
      <p:pic>
        <p:nvPicPr>
          <p:cNvPr id="4" name="Image 0" descr="C:/Users/jacob/.grok/sessions/C%3A%5CUsers%5Cjacob/01a0e2b2-9494-7743-80b4-6976118e7714/images/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278892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474720"/>
            <a:ext cx="2788920" cy="260604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6" name="Text 3"/>
          <p:cNvSpPr/>
          <p:nvPr/>
        </p:nvSpPr>
        <p:spPr>
          <a:xfrm>
            <a:off x="512064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3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2064" y="3913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 Calls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12064" y="4663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body is drawn one step toward the centre.</a:t>
            </a:r>
            <a:endParaRPr lang="en-US" sz="1500" dirty="0"/>
          </a:p>
        </p:txBody>
      </p:sp>
      <p:pic>
        <p:nvPicPr>
          <p:cNvPr id="9" name="Image 1" descr="C:/Users/jacob/.grok/sessions/C%3A%5CUsers%5Cjacob/01a0e2b2-9494-7743-80b4-6976118e7714/images/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0128" y="1143000"/>
            <a:ext cx="2788920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10128" y="3474720"/>
            <a:ext cx="2788920" cy="260604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1" name="Text 7"/>
          <p:cNvSpPr/>
          <p:nvPr/>
        </p:nvSpPr>
        <p:spPr>
          <a:xfrm>
            <a:off x="3456432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3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56432" y="3913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Madness Spreads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56432" y="4663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affliction copies onto someone standing near.</a:t>
            </a:r>
            <a:endParaRPr lang="en-US" sz="1500" dirty="0"/>
          </a:p>
        </p:txBody>
      </p:sp>
      <p:pic>
        <p:nvPicPr>
          <p:cNvPr id="14" name="Image 2" descr="C:/Users/jacob/.grok/sessions/C%3A%5CUsers%5Cjacob/01a0e2b2-9494-7743-80b4-6976118e7714/images/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54496" y="1143000"/>
            <a:ext cx="2788920" cy="2331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54496" y="3474720"/>
            <a:ext cx="2788920" cy="260604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0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3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FLESH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0" y="3913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is Shared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00800" y="4663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every blow also hits the nearest friend.</a:t>
            </a:r>
            <a:endParaRPr lang="en-US" sz="1500" dirty="0"/>
          </a:p>
        </p:txBody>
      </p:sp>
      <p:pic>
        <p:nvPicPr>
          <p:cNvPr id="19" name="Image 3" descr="C:/Users/jacob/.grok/sessions/C%3A%5CUsers%5Cjacob/01a0e2b2-9494-7743-80b4-6976118e7714/images/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98864" y="1143000"/>
            <a:ext cx="2788920" cy="23317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198864" y="3474720"/>
            <a:ext cx="2788920" cy="260604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21" name="Text 15"/>
          <p:cNvSpPr/>
          <p:nvPr/>
        </p:nvSpPr>
        <p:spPr>
          <a:xfrm>
            <a:off x="9345168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3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345168" y="3913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Rival Knows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45168" y="4663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gambit you packed does not fire.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systems, one accident.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52728"/>
            <a:ext cx="566928" cy="566928"/>
          </a:xfrm>
          <a:prstGeom prst="ellipse">
            <a:avLst/>
          </a:prstGeom>
          <a:solidFill>
            <a:srgbClr val="C9A35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807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1288" y="1188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ally dies.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61288" y="15636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others lose 15 sanity.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566928" cy="566928"/>
          </a:xfrm>
          <a:prstGeom prst="ellipse">
            <a:avLst/>
          </a:prstGeom>
          <a:solidFill>
            <a:srgbClr val="C9A35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615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1288" y="2423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Someone drops under 50.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61288" y="27980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 says Paranoid.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721608"/>
            <a:ext cx="566928" cy="566928"/>
          </a:xfrm>
          <a:prstGeom prst="ellipse">
            <a:avLst/>
          </a:prstGeom>
          <a:solidFill>
            <a:srgbClr val="C9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8496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" y="3657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Paranoid strikes a friend.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1288" y="40325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has turned around.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956048"/>
            <a:ext cx="566928" cy="566928"/>
          </a:xfrm>
          <a:prstGeom prst="ellipse">
            <a:avLst/>
          </a:prstGeom>
          <a:solidFill>
            <a:srgbClr val="C9A35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08406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1288" y="4892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friend is a Herald.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1288" y="52669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doubles the loss.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1252728"/>
            <a:ext cx="566928" cy="566928"/>
          </a:xfrm>
          <a:prstGeom prst="ellipse">
            <a:avLst/>
          </a:prstGeom>
          <a:solidFill>
            <a:srgbClr val="C9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3807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3448" y="1188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Herald drops under 50.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13448" y="15636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 says Courageous.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2487168"/>
            <a:ext cx="566928" cy="566928"/>
          </a:xfrm>
          <a:prstGeom prst="ellipse">
            <a:avLst/>
          </a:prstGeom>
          <a:solidFill>
            <a:srgbClr val="C9A35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615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13448" y="2423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aura gives sanity back.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13448" y="27980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virtue, not a speech.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63640" y="3721608"/>
            <a:ext cx="566928" cy="566928"/>
          </a:xfrm>
          <a:prstGeom prst="ellipse">
            <a:avLst/>
          </a:prstGeom>
          <a:solidFill>
            <a:srgbClr val="C9A35A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8496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13448" y="3657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paranoid one steadies.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13448" y="40325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accident stops itself.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6751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0" y="0"/>
            <a:ext cx="6065215" cy="6858000"/>
          </a:xfrm>
          <a:prstGeom prst="rect">
            <a:avLst/>
          </a:prstGeom>
          <a:solidFill>
            <a:srgbClr val="0C100E"/>
          </a:solidFill>
          <a:ln/>
        </p:spPr>
      </p:sp>
      <p:sp>
        <p:nvSpPr>
          <p:cNvPr id="4" name="Text 1"/>
          <p:cNvSpPr/>
          <p:nvPr/>
        </p:nvSpPr>
        <p:spPr>
          <a:xfrm>
            <a:off x="6446520" y="365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46520" y="6858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fight stops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zero.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46520" y="1920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name, the expeditions, the bond, the phobia. Then two doors.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46520" y="2788920"/>
            <a:ext cx="5120640" cy="118872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8" name="Shape 5"/>
          <p:cNvSpPr/>
          <p:nvPr/>
        </p:nvSpPr>
        <p:spPr>
          <a:xfrm>
            <a:off x="6446520" y="2788920"/>
            <a:ext cx="91440" cy="1188720"/>
          </a:xfrm>
          <a:prstGeom prst="rect">
            <a:avLst/>
          </a:prstGeom>
          <a:solidFill>
            <a:srgbClr val="C9A35A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28895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3200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token. Back at 30 percent HP. Plus 15 sanity.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46520" y="4114800"/>
            <a:ext cx="5120640" cy="960120"/>
          </a:xfrm>
          <a:prstGeom prst="rect">
            <a:avLst/>
          </a:prstGeom>
          <a:solidFill>
            <a:srgbClr val="141A18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4114800"/>
            <a:ext cx="91440" cy="960120"/>
          </a:xfrm>
          <a:prstGeom prst="rect">
            <a:avLst/>
          </a:prstGeom>
          <a:solidFill>
            <a:srgbClr val="C65A48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42245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10" kern="0" dirty="0">
                <a:solidFill>
                  <a:srgbClr val="C6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THEY ARE GONE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4526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points go with them.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46520" y="5303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cuts 10 to 15 percent of the sale to charity. Mind is the partner named first. No shop. No loot box.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377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YOU TOUCH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expedition, five screens.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249424" cy="5074920"/>
          </a:xfrm>
          <a:prstGeom prst="rect">
            <a:avLst/>
          </a:prstGeom>
          <a:solidFill>
            <a:srgbClr val="10181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2249424" cy="438912"/>
          </a:xfrm>
          <a:prstGeom prst="rect">
            <a:avLst/>
          </a:prstGeom>
          <a:solidFill>
            <a:srgbClr val="24302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3385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" y="1627632"/>
            <a:ext cx="195681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Vhaal the Drowned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Grudge: marksmen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still shut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can rise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79192" y="1051560"/>
            <a:ext cx="2249424" cy="5074920"/>
          </a:xfrm>
          <a:prstGeom prst="rect">
            <a:avLst/>
          </a:prstGeom>
          <a:solidFill>
            <a:srgbClr val="101816"/>
          </a:solidFill>
          <a:ln/>
        </p:spPr>
      </p:sp>
      <p:sp>
        <p:nvSpPr>
          <p:cNvPr id="9" name="Shape 7"/>
          <p:cNvSpPr/>
          <p:nvPr/>
        </p:nvSpPr>
        <p:spPr>
          <a:xfrm>
            <a:off x="2679192" y="1051560"/>
            <a:ext cx="2249424" cy="438912"/>
          </a:xfrm>
          <a:prstGeom prst="rect">
            <a:avLst/>
          </a:prstGeom>
          <a:solidFill>
            <a:srgbClr val="24302C"/>
          </a:solidFill>
          <a:ln/>
        </p:spPr>
      </p:sp>
      <p:sp>
        <p:nvSpPr>
          <p:cNvPr id="10" name="Text 8"/>
          <p:cNvSpPr/>
          <p:nvPr/>
        </p:nvSpPr>
        <p:spPr>
          <a:xfrm>
            <a:off x="2679192" y="113385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25496" y="1627632"/>
            <a:ext cx="195681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is Power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gambit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Blood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pay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38344" y="1051560"/>
            <a:ext cx="2249424" cy="5074920"/>
          </a:xfrm>
          <a:prstGeom prst="rect">
            <a:avLst/>
          </a:prstGeom>
          <a:solidFill>
            <a:srgbClr val="10181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38344" y="1051560"/>
            <a:ext cx="2249424" cy="438912"/>
          </a:xfrm>
          <a:prstGeom prst="rect">
            <a:avLst/>
          </a:prstGeom>
          <a:solidFill>
            <a:srgbClr val="24302C"/>
          </a:solidFill>
          <a:ln/>
        </p:spPr>
      </p:sp>
      <p:sp>
        <p:nvSpPr>
          <p:cNvPr id="14" name="Text 12"/>
          <p:cNvSpPr/>
          <p:nvPr/>
        </p:nvSpPr>
        <p:spPr>
          <a:xfrm>
            <a:off x="5038344" y="113385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4648" y="1627632"/>
            <a:ext cx="195681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Weak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slots.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is an upgrade.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97496" y="1051560"/>
            <a:ext cx="2249424" cy="5074920"/>
          </a:xfrm>
          <a:prstGeom prst="rect">
            <a:avLst/>
          </a:prstGeom>
          <a:solidFill>
            <a:srgbClr val="10181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97496" y="1051560"/>
            <a:ext cx="2249424" cy="438912"/>
          </a:xfrm>
          <a:prstGeom prst="rect">
            <a:avLst/>
          </a:prstGeom>
          <a:solidFill>
            <a:srgbClr val="24302C"/>
          </a:solidFill>
          <a:ln/>
        </p:spPr>
      </p:sp>
      <p:sp>
        <p:nvSpPr>
          <p:cNvPr id="18" name="Text 16"/>
          <p:cNvSpPr/>
          <p:nvPr/>
        </p:nvSpPr>
        <p:spPr>
          <a:xfrm>
            <a:off x="7397496" y="113385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1627632"/>
            <a:ext cx="195681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1x    Pause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  3 / 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Elara    SAN 41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Afflicted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watching.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56648" y="1051560"/>
            <a:ext cx="2249424" cy="5074920"/>
          </a:xfrm>
          <a:prstGeom prst="rect">
            <a:avLst/>
          </a:prstGeom>
          <a:solidFill>
            <a:srgbClr val="101816"/>
          </a:solidFill>
          <a:ln/>
        </p:spPr>
      </p:sp>
      <p:sp>
        <p:nvSpPr>
          <p:cNvPr id="21" name="Shape 19"/>
          <p:cNvSpPr/>
          <p:nvPr/>
        </p:nvSpPr>
        <p:spPr>
          <a:xfrm>
            <a:off x="9756648" y="1051560"/>
            <a:ext cx="2249424" cy="438912"/>
          </a:xfrm>
          <a:prstGeom prst="rect">
            <a:avLst/>
          </a:prstGeom>
          <a:solidFill>
            <a:srgbClr val="24302C"/>
          </a:solidFill>
          <a:ln/>
        </p:spPr>
      </p:sp>
      <p:sp>
        <p:nvSpPr>
          <p:cNvPr id="22" name="Text 20"/>
          <p:cNvSpPr/>
          <p:nvPr/>
        </p:nvSpPr>
        <p:spPr>
          <a:xfrm>
            <a:off x="9756648" y="113385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" kern="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02952" y="1627632"/>
            <a:ext cx="195681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Elara is down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Marksman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captain has her name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   or    GONE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HP, +15 sanity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acob/.grok/sessions/C%3A%5CUsers%5Cjacob/01a0e2b2-9494-7743-80b4-6976118e7714/images/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977640"/>
            <a:ext cx="12191695" cy="2880360"/>
          </a:xfrm>
          <a:prstGeom prst="rect">
            <a:avLst/>
          </a:prstGeom>
          <a:solidFill>
            <a:srgbClr val="0C100E">
              <a:alpha val="9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city is the size of the threat.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lantern is the size of the point.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could name. A token you might spend. Then the water, which kept the lesson.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Kindred Siege    The Drowned City    Design brief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Kindred Siege: The Drowned City</dc:title>
  <dc:subject>Design brief from GDD v4</dc:subject>
  <dc:creator>Kindred Siege</dc:creator>
  <cp:lastModifiedBy>Kindred Siege</cp:lastModifiedBy>
  <cp:revision>1</cp:revision>
  <dcterms:created xsi:type="dcterms:W3CDTF">2026-09-27T12:33:08Z</dcterms:created>
  <dcterms:modified xsi:type="dcterms:W3CDTF">2026-09-27T12:33:08Z</dcterms:modified>
</cp:coreProperties>
</file>